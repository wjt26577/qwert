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 showGuides="1">
      <p:cViewPr varScale="1">
        <p:scale>
          <a:sx n="59" d="100"/>
          <a:sy n="59" d="100"/>
        </p:scale>
        <p:origin x="33" y="11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5676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_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_template_3">
            <a:extLst>
              <a:ext uri="{FF2B5EF4-FFF2-40B4-BE49-F238E27FC236}">
                <a16:creationId xmlns:a16="http://schemas.microsoft.com/office/drawing/2014/main" id="{70DA85C0-401C-63B4-B7AC-CBC8B040DDA0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782515" y="2102052"/>
            <a:ext cx="2513509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zh-CN" altLang="en-US" sz="2800" dirty="0">
                <a:solidFill>
                  <a:schemeClr val="tx2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天生我材必有用</a:t>
            </a:r>
          </a:p>
        </p:txBody>
      </p:sp>
      <p:sp>
        <p:nvSpPr>
          <p:cNvPr id="17" name="title_template_2">
            <a:extLst>
              <a:ext uri="{FF2B5EF4-FFF2-40B4-BE49-F238E27FC236}">
                <a16:creationId xmlns:a16="http://schemas.microsoft.com/office/drawing/2014/main" id="{7C9793ED-1DDF-6FEB-0B26-FB3C476A23E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82515" y="1556632"/>
            <a:ext cx="2042226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zh-CN" altLang="en-US" sz="2400" dirty="0">
                <a:gradFill>
                  <a:gsLst>
                    <a:gs pos="80000">
                      <a:schemeClr val="accent1"/>
                    </a:gs>
                    <a:gs pos="0">
                      <a:schemeClr val="accent2"/>
                    </a:gs>
                  </a:gsLst>
                  <a:lin ang="0" scaled="1"/>
                </a:gradFill>
                <a:latin typeface="演示光芒体" panose="02000600000000000000" pitchFamily="2" charset="-122"/>
                <a:ea typeface="演示光芒体" panose="02000600000000000000" pitchFamily="2" charset="-122"/>
                <a:cs typeface="演示光芒体" panose="02000600000000000000" pitchFamily="2" charset="-122"/>
              </a:rPr>
              <a:t>天生我材必有用</a:t>
            </a:r>
          </a:p>
        </p:txBody>
      </p:sp>
      <p:sp>
        <p:nvSpPr>
          <p:cNvPr id="18" name="text_template_1">
            <a:extLst>
              <a:ext uri="{FF2B5EF4-FFF2-40B4-BE49-F238E27FC236}">
                <a16:creationId xmlns:a16="http://schemas.microsoft.com/office/drawing/2014/main" id="{DC71356F-6F1E-C635-7521-1CBD1417322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782515" y="3719805"/>
            <a:ext cx="4210403" cy="5690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0" i="0" dirty="0">
                <a:effectLst/>
                <a:latin typeface="Inter"/>
              </a:rPr>
              <a:t>月光如流水一般，静静地泻在这一片叶子和花上，薄薄的青雾浮起在荷塘里。</a:t>
            </a:r>
            <a:endParaRPr lang="zh-Hans-HK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itle_template_1">
            <a:extLst>
              <a:ext uri="{FF2B5EF4-FFF2-40B4-BE49-F238E27FC236}">
                <a16:creationId xmlns:a16="http://schemas.microsoft.com/office/drawing/2014/main" id="{0624C7A7-0263-4294-9001-426DFE37931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782516" y="894310"/>
            <a:ext cx="2513509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字酷堂清楷 简" panose="02000500000000000000" pitchFamily="2" charset="-122"/>
                <a:ea typeface="字酷堂清楷 简" panose="02000500000000000000" pitchFamily="2" charset="-122"/>
              </a:rPr>
              <a:t>天生我材必有用</a:t>
            </a:r>
          </a:p>
        </p:txBody>
      </p:sp>
    </p:spTree>
    <p:extLst>
      <p:ext uri="{BB962C8B-B14F-4D97-AF65-F5344CB8AC3E}">
        <p14:creationId xmlns:p14="http://schemas.microsoft.com/office/powerpoint/2010/main" val="1613027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1912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9717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B15B2F1B-B5C9-7F3F-38CC-810F67FEA8D7}"/>
              </a:ext>
            </a:extLst>
          </p:cNvPr>
          <p:cNvSpPr txBox="1">
            <a:spLocks/>
          </p:cNvSpPr>
          <p:nvPr/>
        </p:nvSpPr>
        <p:spPr>
          <a:xfrm rot="10800000" flipV="1">
            <a:off x="505593" y="1549877"/>
            <a:ext cx="2854432" cy="21553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FF0000"/>
                </a:solidFill>
                <a:latin typeface="字酷堂清楷 简" panose="02000500000000000000" pitchFamily="2" charset="-122"/>
                <a:ea typeface="字酷堂清楷 简" panose="02000500000000000000" pitchFamily="2" charset="-122"/>
              </a:defRPr>
            </a:lvl1pPr>
          </a:lstStyle>
          <a:p>
            <a:pPr algn="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100" b="0" i="0" dirty="0">
                <a:solidFill>
                  <a:srgbClr val="000000"/>
                </a:solidFill>
                <a:effectLst/>
                <a:latin typeface="梦源黑体 CN W18" panose="020B0200000000000000" pitchFamily="34" charset="-122"/>
                <a:ea typeface="梦源黑体 CN W18" panose="020B0200000000000000" pitchFamily="34" charset="-122"/>
              </a:rPr>
              <a:t>根据赛事规定，山东泰山将面临至少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梦源黑体 CN W18" panose="020B0200000000000000" pitchFamily="34" charset="-122"/>
                <a:ea typeface="梦源黑体 CN W18" panose="020B0200000000000000" pitchFamily="34" charset="-122"/>
              </a:rPr>
              <a:t>5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梦源黑体 CN W18" panose="020B0200000000000000" pitchFamily="34" charset="-122"/>
                <a:ea typeface="梦源黑体 CN W18" panose="020B0200000000000000" pitchFamily="34" charset="-122"/>
              </a:rPr>
              <a:t>万美元的罚款，以及至少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梦源黑体 CN W18" panose="020B0200000000000000" pitchFamily="34" charset="-122"/>
                <a:ea typeface="梦源黑体 CN W18" panose="020B0200000000000000" pitchFamily="34" charset="-122"/>
              </a:rPr>
              <a:t>1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梦源黑体 CN W18" panose="020B0200000000000000" pitchFamily="34" charset="-122"/>
                <a:ea typeface="梦源黑体 CN W18" panose="020B0200000000000000" pitchFamily="34" charset="-122"/>
              </a:rPr>
              <a:t>个赛季被禁止参加亚足联赛事，还要退回此前收到的所有赛事奖金。</a:t>
            </a:r>
          </a:p>
          <a:p>
            <a:pPr algn="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100" b="0" i="0" dirty="0">
                <a:solidFill>
                  <a:srgbClr val="000000"/>
                </a:solidFill>
                <a:effectLst/>
                <a:latin typeface="梦源黑体 CN W18" panose="020B0200000000000000" pitchFamily="34" charset="-122"/>
                <a:ea typeface="梦源黑体 CN W18" panose="020B0200000000000000" pitchFamily="34" charset="-122"/>
              </a:rPr>
              <a:t>泰山还可能要支付一笔赔偿金，以弥补其他俱乐部和商业机构所遭受的损失， 具体决定将由亚足联纪律和道德委员会做出。</a:t>
            </a:r>
            <a:r>
              <a:rPr lang="en-US" altLang="zh-CN" sz="1100" b="0" i="0" dirty="0" err="1">
                <a:solidFill>
                  <a:srgbClr val="000000"/>
                </a:solidFill>
                <a:effectLst/>
                <a:latin typeface="梦源黑体 CN W18" panose="020B0200000000000000" pitchFamily="34" charset="-122"/>
                <a:ea typeface="梦源黑体 CN W18" panose="020B0200000000000000" pitchFamily="34" charset="-122"/>
              </a:rPr>
              <a:t>Volume_upvolume_upvolume_downvolume_downvolume_downvolume_down</a:t>
            </a:r>
            <a:endParaRPr lang="zh-CN" altLang="en-US" sz="1100" b="0" i="0" dirty="0">
              <a:solidFill>
                <a:srgbClr val="000000"/>
              </a:solidFill>
              <a:effectLst/>
              <a:latin typeface="梦源黑体 CN W18" panose="020B0200000000000000" pitchFamily="34" charset="-122"/>
              <a:ea typeface="梦源黑体 CN W18" panose="020B0200000000000000" pitchFamily="34" charset="-122"/>
            </a:endParaRPr>
          </a:p>
        </p:txBody>
      </p:sp>
      <p:sp>
        <p:nvSpPr>
          <p:cNvPr id="203" name="任意多边形: 形状 202">
            <a:extLst>
              <a:ext uri="{FF2B5EF4-FFF2-40B4-BE49-F238E27FC236}">
                <a16:creationId xmlns:a16="http://schemas.microsoft.com/office/drawing/2014/main" id="{1CD068AA-290B-6E27-50F0-843F26897952}"/>
              </a:ext>
            </a:extLst>
          </p:cNvPr>
          <p:cNvSpPr>
            <a:spLocks/>
          </p:cNvSpPr>
          <p:nvPr/>
        </p:nvSpPr>
        <p:spPr>
          <a:xfrm>
            <a:off x="2822441" y="4839523"/>
            <a:ext cx="257475" cy="671200"/>
          </a:xfrm>
          <a:custGeom>
            <a:avLst/>
            <a:gdLst>
              <a:gd name="connsiteX0" fmla="*/ 0 w 531625"/>
              <a:gd name="connsiteY0" fmla="*/ 0 h 373957"/>
              <a:gd name="connsiteX1" fmla="*/ 531625 w 531625"/>
              <a:gd name="connsiteY1" fmla="*/ 0 h 373957"/>
              <a:gd name="connsiteX2" fmla="*/ 531625 w 531625"/>
              <a:gd name="connsiteY2" fmla="*/ 373957 h 373957"/>
              <a:gd name="connsiteX3" fmla="*/ 0 w 531625"/>
              <a:gd name="connsiteY3" fmla="*/ 373957 h 373957"/>
              <a:gd name="connsiteX4" fmla="*/ 0 w 531625"/>
              <a:gd name="connsiteY4" fmla="*/ 0 h 373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1625" h="373957">
                <a:moveTo>
                  <a:pt x="0" y="0"/>
                </a:moveTo>
                <a:lnTo>
                  <a:pt x="531625" y="0"/>
                </a:lnTo>
                <a:lnTo>
                  <a:pt x="531625" y="373957"/>
                </a:lnTo>
                <a:lnTo>
                  <a:pt x="0" y="37395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4" name="任意多边形: 形状 203">
            <a:extLst>
              <a:ext uri="{FF2B5EF4-FFF2-40B4-BE49-F238E27FC236}">
                <a16:creationId xmlns:a16="http://schemas.microsoft.com/office/drawing/2014/main" id="{9814A619-F214-6AEB-5DCD-6063A5951AB4}"/>
              </a:ext>
            </a:extLst>
          </p:cNvPr>
          <p:cNvSpPr>
            <a:spLocks/>
          </p:cNvSpPr>
          <p:nvPr/>
        </p:nvSpPr>
        <p:spPr>
          <a:xfrm>
            <a:off x="5882634" y="2522586"/>
            <a:ext cx="460853" cy="260377"/>
          </a:xfrm>
          <a:custGeom>
            <a:avLst/>
            <a:gdLst>
              <a:gd name="connsiteX0" fmla="*/ 584406 w 1152455"/>
              <a:gd name="connsiteY0" fmla="*/ 1384235 h 1758192"/>
              <a:gd name="connsiteX1" fmla="*/ 1152455 w 1152455"/>
              <a:gd name="connsiteY1" fmla="*/ 1384235 h 1758192"/>
              <a:gd name="connsiteX2" fmla="*/ 1152455 w 1152455"/>
              <a:gd name="connsiteY2" fmla="*/ 1758192 h 1758192"/>
              <a:gd name="connsiteX3" fmla="*/ 584406 w 1152455"/>
              <a:gd name="connsiteY3" fmla="*/ 1758192 h 1758192"/>
              <a:gd name="connsiteX4" fmla="*/ 0 w 1152455"/>
              <a:gd name="connsiteY4" fmla="*/ 0 h 1758192"/>
              <a:gd name="connsiteX5" fmla="*/ 706071 w 1152455"/>
              <a:gd name="connsiteY5" fmla="*/ 0 h 1758192"/>
              <a:gd name="connsiteX6" fmla="*/ 706071 w 1152455"/>
              <a:gd name="connsiteY6" fmla="*/ 741337 h 1758192"/>
              <a:gd name="connsiteX7" fmla="*/ 174446 w 1152455"/>
              <a:gd name="connsiteY7" fmla="*/ 741337 h 1758192"/>
              <a:gd name="connsiteX8" fmla="*/ 174446 w 1152455"/>
              <a:gd name="connsiteY8" fmla="*/ 1115294 h 1758192"/>
              <a:gd name="connsiteX9" fmla="*/ 706071 w 1152455"/>
              <a:gd name="connsiteY9" fmla="*/ 1115294 h 1758192"/>
              <a:gd name="connsiteX10" fmla="*/ 706071 w 1152455"/>
              <a:gd name="connsiteY10" fmla="*/ 1161887 h 1758192"/>
              <a:gd name="connsiteX11" fmla="*/ 0 w 1152455"/>
              <a:gd name="connsiteY11" fmla="*/ 1161887 h 1758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52455" h="1758192">
                <a:moveTo>
                  <a:pt x="584406" y="1384235"/>
                </a:moveTo>
                <a:lnTo>
                  <a:pt x="1152455" y="1384235"/>
                </a:lnTo>
                <a:lnTo>
                  <a:pt x="1152455" y="1758192"/>
                </a:lnTo>
                <a:lnTo>
                  <a:pt x="584406" y="1758192"/>
                </a:lnTo>
                <a:close/>
                <a:moveTo>
                  <a:pt x="0" y="0"/>
                </a:moveTo>
                <a:lnTo>
                  <a:pt x="706071" y="0"/>
                </a:lnTo>
                <a:lnTo>
                  <a:pt x="706071" y="741337"/>
                </a:lnTo>
                <a:lnTo>
                  <a:pt x="174446" y="741337"/>
                </a:lnTo>
                <a:lnTo>
                  <a:pt x="174446" y="1115294"/>
                </a:lnTo>
                <a:lnTo>
                  <a:pt x="706071" y="1115294"/>
                </a:lnTo>
                <a:lnTo>
                  <a:pt x="706071" y="1161887"/>
                </a:lnTo>
                <a:lnTo>
                  <a:pt x="0" y="1161887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400"/>
          </a:p>
        </p:txBody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747EA5C4-0251-E89B-AA82-F6CBA2A880A4}"/>
              </a:ext>
            </a:extLst>
          </p:cNvPr>
          <p:cNvSpPr>
            <a:spLocks/>
          </p:cNvSpPr>
          <p:nvPr/>
        </p:nvSpPr>
        <p:spPr>
          <a:xfrm>
            <a:off x="3088254" y="928581"/>
            <a:ext cx="460853" cy="2603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DBA08814-FDC3-B7FE-F60D-F01874504FD7}"/>
              </a:ext>
            </a:extLst>
          </p:cNvPr>
          <p:cNvSpPr>
            <a:spLocks/>
          </p:cNvSpPr>
          <p:nvPr/>
        </p:nvSpPr>
        <p:spPr>
          <a:xfrm>
            <a:off x="4264142" y="4184472"/>
            <a:ext cx="257475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5A20A798-2E05-E1CF-02E1-9EA960571D51}"/>
              </a:ext>
            </a:extLst>
          </p:cNvPr>
          <p:cNvSpPr>
            <a:spLocks/>
          </p:cNvSpPr>
          <p:nvPr/>
        </p:nvSpPr>
        <p:spPr>
          <a:xfrm>
            <a:off x="3970170" y="928581"/>
            <a:ext cx="460853" cy="2603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219F0B8D-D6CC-4DA7-7E23-08BBD26CCB2E}"/>
              </a:ext>
            </a:extLst>
          </p:cNvPr>
          <p:cNvSpPr>
            <a:spLocks/>
          </p:cNvSpPr>
          <p:nvPr/>
        </p:nvSpPr>
        <p:spPr>
          <a:xfrm>
            <a:off x="4407186" y="1750468"/>
            <a:ext cx="460853" cy="2603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/>
          </a:p>
        </p:txBody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AF00357E-5845-9BCB-A5C0-686734FD1AFD}"/>
              </a:ext>
            </a:extLst>
          </p:cNvPr>
          <p:cNvSpPr>
            <a:spLocks/>
          </p:cNvSpPr>
          <p:nvPr/>
        </p:nvSpPr>
        <p:spPr>
          <a:xfrm>
            <a:off x="4832190" y="928580"/>
            <a:ext cx="460853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C5F4CDD4-AE1D-268D-30AD-65E2E3401B07}"/>
              </a:ext>
            </a:extLst>
          </p:cNvPr>
          <p:cNvSpPr>
            <a:spLocks/>
          </p:cNvSpPr>
          <p:nvPr/>
        </p:nvSpPr>
        <p:spPr>
          <a:xfrm>
            <a:off x="5619557" y="1737446"/>
            <a:ext cx="460853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89" name="矩形 188">
            <a:extLst>
              <a:ext uri="{FF2B5EF4-FFF2-40B4-BE49-F238E27FC236}">
                <a16:creationId xmlns:a16="http://schemas.microsoft.com/office/drawing/2014/main" id="{B7004504-6A8D-99B6-272C-6A6DE1D69271}"/>
              </a:ext>
            </a:extLst>
          </p:cNvPr>
          <p:cNvSpPr>
            <a:spLocks/>
          </p:cNvSpPr>
          <p:nvPr/>
        </p:nvSpPr>
        <p:spPr>
          <a:xfrm>
            <a:off x="5653695" y="928580"/>
            <a:ext cx="460853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05" name="任意多边形: 形状 204">
            <a:extLst>
              <a:ext uri="{FF2B5EF4-FFF2-40B4-BE49-F238E27FC236}">
                <a16:creationId xmlns:a16="http://schemas.microsoft.com/office/drawing/2014/main" id="{FA28E437-B01F-921B-E7A8-A3C5F30983CC}"/>
              </a:ext>
            </a:extLst>
          </p:cNvPr>
          <p:cNvSpPr>
            <a:spLocks/>
          </p:cNvSpPr>
          <p:nvPr/>
        </p:nvSpPr>
        <p:spPr>
          <a:xfrm>
            <a:off x="3360025" y="3941725"/>
            <a:ext cx="257475" cy="671200"/>
          </a:xfrm>
          <a:custGeom>
            <a:avLst/>
            <a:gdLst>
              <a:gd name="connsiteX0" fmla="*/ 0 w 531625"/>
              <a:gd name="connsiteY0" fmla="*/ 0 h 373957"/>
              <a:gd name="connsiteX1" fmla="*/ 531625 w 531625"/>
              <a:gd name="connsiteY1" fmla="*/ 0 h 373957"/>
              <a:gd name="connsiteX2" fmla="*/ 531625 w 531625"/>
              <a:gd name="connsiteY2" fmla="*/ 373957 h 373957"/>
              <a:gd name="connsiteX3" fmla="*/ 0 w 531625"/>
              <a:gd name="connsiteY3" fmla="*/ 373957 h 373957"/>
              <a:gd name="connsiteX4" fmla="*/ 0 w 531625"/>
              <a:gd name="connsiteY4" fmla="*/ 0 h 373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1625" h="373957">
                <a:moveTo>
                  <a:pt x="0" y="0"/>
                </a:moveTo>
                <a:lnTo>
                  <a:pt x="531625" y="0"/>
                </a:lnTo>
                <a:lnTo>
                  <a:pt x="531625" y="373957"/>
                </a:lnTo>
                <a:lnTo>
                  <a:pt x="0" y="37395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3200"/>
          </a:p>
        </p:txBody>
      </p:sp>
      <p:sp>
        <p:nvSpPr>
          <p:cNvPr id="206" name="矩形 205">
            <a:extLst>
              <a:ext uri="{FF2B5EF4-FFF2-40B4-BE49-F238E27FC236}">
                <a16:creationId xmlns:a16="http://schemas.microsoft.com/office/drawing/2014/main" id="{26480850-B23F-E30C-8874-3912944A459B}"/>
              </a:ext>
            </a:extLst>
          </p:cNvPr>
          <p:cNvSpPr>
            <a:spLocks/>
          </p:cNvSpPr>
          <p:nvPr/>
        </p:nvSpPr>
        <p:spPr>
          <a:xfrm>
            <a:off x="4278449" y="4164817"/>
            <a:ext cx="257475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7" name="矩形 206">
            <a:extLst>
              <a:ext uri="{FF2B5EF4-FFF2-40B4-BE49-F238E27FC236}">
                <a16:creationId xmlns:a16="http://schemas.microsoft.com/office/drawing/2014/main" id="{4E2605E3-F4D7-4B77-8E64-EB7C889409FD}"/>
              </a:ext>
            </a:extLst>
          </p:cNvPr>
          <p:cNvSpPr>
            <a:spLocks/>
          </p:cNvSpPr>
          <p:nvPr/>
        </p:nvSpPr>
        <p:spPr>
          <a:xfrm>
            <a:off x="5633864" y="1717791"/>
            <a:ext cx="460853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10" name="矩形 209">
            <a:extLst>
              <a:ext uri="{FF2B5EF4-FFF2-40B4-BE49-F238E27FC236}">
                <a16:creationId xmlns:a16="http://schemas.microsoft.com/office/drawing/2014/main" id="{CBA6AA86-DB4B-85B0-71D1-FAB77BAFE26A}"/>
              </a:ext>
            </a:extLst>
          </p:cNvPr>
          <p:cNvSpPr>
            <a:spLocks/>
          </p:cNvSpPr>
          <p:nvPr/>
        </p:nvSpPr>
        <p:spPr>
          <a:xfrm>
            <a:off x="0" y="3704465"/>
            <a:ext cx="1533710" cy="29858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211" name="矩形 210">
            <a:extLst>
              <a:ext uri="{FF2B5EF4-FFF2-40B4-BE49-F238E27FC236}">
                <a16:creationId xmlns:a16="http://schemas.microsoft.com/office/drawing/2014/main" id="{4038E08E-CC2A-0A97-5EA2-21A11BC56D6F}"/>
              </a:ext>
            </a:extLst>
          </p:cNvPr>
          <p:cNvSpPr>
            <a:spLocks/>
          </p:cNvSpPr>
          <p:nvPr/>
        </p:nvSpPr>
        <p:spPr>
          <a:xfrm>
            <a:off x="456832" y="3704465"/>
            <a:ext cx="115514" cy="29858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2" name="矩形 211">
            <a:extLst>
              <a:ext uri="{FF2B5EF4-FFF2-40B4-BE49-F238E27FC236}">
                <a16:creationId xmlns:a16="http://schemas.microsoft.com/office/drawing/2014/main" id="{E50B7F12-7F8E-3A29-98D6-C01FBB76B178}"/>
              </a:ext>
            </a:extLst>
          </p:cNvPr>
          <p:cNvSpPr>
            <a:spLocks/>
          </p:cNvSpPr>
          <p:nvPr/>
        </p:nvSpPr>
        <p:spPr>
          <a:xfrm>
            <a:off x="673946" y="3704465"/>
            <a:ext cx="115514" cy="29858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3" name="矩形 212">
            <a:extLst>
              <a:ext uri="{FF2B5EF4-FFF2-40B4-BE49-F238E27FC236}">
                <a16:creationId xmlns:a16="http://schemas.microsoft.com/office/drawing/2014/main" id="{7B1B7853-0908-2201-EB35-D5F875008411}"/>
              </a:ext>
            </a:extLst>
          </p:cNvPr>
          <p:cNvSpPr>
            <a:spLocks/>
          </p:cNvSpPr>
          <p:nvPr/>
        </p:nvSpPr>
        <p:spPr>
          <a:xfrm>
            <a:off x="2307955" y="3429000"/>
            <a:ext cx="115514" cy="29858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4" name="矩形 213">
            <a:extLst>
              <a:ext uri="{FF2B5EF4-FFF2-40B4-BE49-F238E27FC236}">
                <a16:creationId xmlns:a16="http://schemas.microsoft.com/office/drawing/2014/main" id="{11F690C9-FA6C-D7A3-2649-037103E92C9A}"/>
              </a:ext>
            </a:extLst>
          </p:cNvPr>
          <p:cNvSpPr>
            <a:spLocks/>
          </p:cNvSpPr>
          <p:nvPr/>
        </p:nvSpPr>
        <p:spPr>
          <a:xfrm>
            <a:off x="1108173" y="3704465"/>
            <a:ext cx="115514" cy="29858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5" name="矩形 214">
            <a:extLst>
              <a:ext uri="{FF2B5EF4-FFF2-40B4-BE49-F238E27FC236}">
                <a16:creationId xmlns:a16="http://schemas.microsoft.com/office/drawing/2014/main" id="{91DC5C09-4D1F-FD31-54DE-6F7F8D987958}"/>
              </a:ext>
            </a:extLst>
          </p:cNvPr>
          <p:cNvSpPr>
            <a:spLocks/>
          </p:cNvSpPr>
          <p:nvPr/>
        </p:nvSpPr>
        <p:spPr>
          <a:xfrm>
            <a:off x="4436787" y="3429000"/>
            <a:ext cx="246599" cy="29858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6" name="矩形 215">
            <a:extLst>
              <a:ext uri="{FF2B5EF4-FFF2-40B4-BE49-F238E27FC236}">
                <a16:creationId xmlns:a16="http://schemas.microsoft.com/office/drawing/2014/main" id="{9BE98C2D-D86A-0203-414D-EEC3CC1738F0}"/>
              </a:ext>
            </a:extLst>
          </p:cNvPr>
          <p:cNvSpPr>
            <a:spLocks/>
          </p:cNvSpPr>
          <p:nvPr/>
        </p:nvSpPr>
        <p:spPr>
          <a:xfrm>
            <a:off x="4784986" y="3429000"/>
            <a:ext cx="211371" cy="29858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7" name="矩形 216">
            <a:extLst>
              <a:ext uri="{FF2B5EF4-FFF2-40B4-BE49-F238E27FC236}">
                <a16:creationId xmlns:a16="http://schemas.microsoft.com/office/drawing/2014/main" id="{36A38678-396C-CBF5-4908-946E1B77B892}"/>
              </a:ext>
            </a:extLst>
          </p:cNvPr>
          <p:cNvSpPr>
            <a:spLocks/>
          </p:cNvSpPr>
          <p:nvPr/>
        </p:nvSpPr>
        <p:spPr>
          <a:xfrm>
            <a:off x="5097957" y="3429000"/>
            <a:ext cx="105685" cy="29858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886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1B80E-BA88-D78F-EE77-DED4AB848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2757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7CCF4-55BC-8500-C292-073846F77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矩形 102">
            <a:extLst>
              <a:ext uri="{FF2B5EF4-FFF2-40B4-BE49-F238E27FC236}">
                <a16:creationId xmlns:a16="http://schemas.microsoft.com/office/drawing/2014/main" id="{8D26395D-AA28-9835-185D-33DB69A3B07A}"/>
              </a:ext>
            </a:extLst>
          </p:cNvPr>
          <p:cNvSpPr>
            <a:spLocks/>
          </p:cNvSpPr>
          <p:nvPr/>
        </p:nvSpPr>
        <p:spPr>
          <a:xfrm>
            <a:off x="4619429" y="707265"/>
            <a:ext cx="460853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矩形 115" hidden="1">
            <a:extLst>
              <a:ext uri="{FF2B5EF4-FFF2-40B4-BE49-F238E27FC236}">
                <a16:creationId xmlns:a16="http://schemas.microsoft.com/office/drawing/2014/main" id="{3EE3BC13-D686-8409-AE1E-A36355E8FEBF}"/>
              </a:ext>
            </a:extLst>
          </p:cNvPr>
          <p:cNvSpPr>
            <a:spLocks/>
          </p:cNvSpPr>
          <p:nvPr/>
        </p:nvSpPr>
        <p:spPr>
          <a:xfrm>
            <a:off x="4541646" y="3413364"/>
            <a:ext cx="460853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矩形 116" hidden="1">
            <a:extLst>
              <a:ext uri="{FF2B5EF4-FFF2-40B4-BE49-F238E27FC236}">
                <a16:creationId xmlns:a16="http://schemas.microsoft.com/office/drawing/2014/main" id="{C3FFF91B-C8D2-FAFB-9C43-82193DC086DC}"/>
              </a:ext>
            </a:extLst>
          </p:cNvPr>
          <p:cNvSpPr>
            <a:spLocks/>
          </p:cNvSpPr>
          <p:nvPr/>
        </p:nvSpPr>
        <p:spPr>
          <a:xfrm>
            <a:off x="5151807" y="3413364"/>
            <a:ext cx="460853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35CD9E70-7646-8F75-F7CA-9409951AA941}"/>
              </a:ext>
            </a:extLst>
          </p:cNvPr>
          <p:cNvSpPr>
            <a:spLocks/>
          </p:cNvSpPr>
          <p:nvPr/>
        </p:nvSpPr>
        <p:spPr>
          <a:xfrm>
            <a:off x="7382825" y="3425693"/>
            <a:ext cx="1671842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24C9CFE8-7D24-90E8-F5D9-408FAAABA7C0}"/>
              </a:ext>
            </a:extLst>
          </p:cNvPr>
          <p:cNvSpPr>
            <a:spLocks/>
          </p:cNvSpPr>
          <p:nvPr/>
        </p:nvSpPr>
        <p:spPr>
          <a:xfrm>
            <a:off x="0" y="774602"/>
            <a:ext cx="460853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C6615766-CF6E-E0B9-EFC1-B233B65797FC}"/>
              </a:ext>
            </a:extLst>
          </p:cNvPr>
          <p:cNvSpPr>
            <a:spLocks/>
          </p:cNvSpPr>
          <p:nvPr/>
        </p:nvSpPr>
        <p:spPr>
          <a:xfrm>
            <a:off x="5421783" y="774602"/>
            <a:ext cx="460853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848CE9BA-E4BB-552B-1DB8-8A8305C2DF1E}"/>
              </a:ext>
            </a:extLst>
          </p:cNvPr>
          <p:cNvSpPr>
            <a:spLocks/>
          </p:cNvSpPr>
          <p:nvPr/>
        </p:nvSpPr>
        <p:spPr>
          <a:xfrm flipV="1">
            <a:off x="4859330" y="774602"/>
            <a:ext cx="460853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5" name="任意多边形: 形状 204" hidden="1">
            <a:extLst>
              <a:ext uri="{FF2B5EF4-FFF2-40B4-BE49-F238E27FC236}">
                <a16:creationId xmlns:a16="http://schemas.microsoft.com/office/drawing/2014/main" id="{6F0E231E-EB40-D6C4-33C7-06B0736B27F9}"/>
              </a:ext>
            </a:extLst>
          </p:cNvPr>
          <p:cNvSpPr>
            <a:spLocks/>
          </p:cNvSpPr>
          <p:nvPr/>
        </p:nvSpPr>
        <p:spPr>
          <a:xfrm>
            <a:off x="7020225" y="1868541"/>
            <a:ext cx="257475" cy="671200"/>
          </a:xfrm>
          <a:custGeom>
            <a:avLst/>
            <a:gdLst>
              <a:gd name="connsiteX0" fmla="*/ 0 w 531625"/>
              <a:gd name="connsiteY0" fmla="*/ 0 h 373957"/>
              <a:gd name="connsiteX1" fmla="*/ 531625 w 531625"/>
              <a:gd name="connsiteY1" fmla="*/ 0 h 373957"/>
              <a:gd name="connsiteX2" fmla="*/ 531625 w 531625"/>
              <a:gd name="connsiteY2" fmla="*/ 373957 h 373957"/>
              <a:gd name="connsiteX3" fmla="*/ 0 w 531625"/>
              <a:gd name="connsiteY3" fmla="*/ 373957 h 373957"/>
              <a:gd name="connsiteX4" fmla="*/ 0 w 531625"/>
              <a:gd name="connsiteY4" fmla="*/ 0 h 373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1625" h="373957">
                <a:moveTo>
                  <a:pt x="0" y="0"/>
                </a:moveTo>
                <a:lnTo>
                  <a:pt x="531625" y="0"/>
                </a:lnTo>
                <a:lnTo>
                  <a:pt x="531625" y="373957"/>
                </a:lnTo>
                <a:lnTo>
                  <a:pt x="0" y="37395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8" name="矩形 187" hidden="1">
            <a:extLst>
              <a:ext uri="{FF2B5EF4-FFF2-40B4-BE49-F238E27FC236}">
                <a16:creationId xmlns:a16="http://schemas.microsoft.com/office/drawing/2014/main" id="{67127350-C630-775C-FFFF-D93B8F4F8095}"/>
              </a:ext>
            </a:extLst>
          </p:cNvPr>
          <p:cNvSpPr>
            <a:spLocks/>
          </p:cNvSpPr>
          <p:nvPr/>
        </p:nvSpPr>
        <p:spPr>
          <a:xfrm>
            <a:off x="4716208" y="1868541"/>
            <a:ext cx="460853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AB995FC5-3A3B-17AB-731A-0FC7E0386272}"/>
              </a:ext>
            </a:extLst>
          </p:cNvPr>
          <p:cNvSpPr>
            <a:spLocks/>
          </p:cNvSpPr>
          <p:nvPr/>
        </p:nvSpPr>
        <p:spPr>
          <a:xfrm>
            <a:off x="3016246" y="3413364"/>
            <a:ext cx="460853" cy="2603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07" name="矩形 206">
            <a:extLst>
              <a:ext uri="{FF2B5EF4-FFF2-40B4-BE49-F238E27FC236}">
                <a16:creationId xmlns:a16="http://schemas.microsoft.com/office/drawing/2014/main" id="{F55AB980-E328-DF1D-2346-3B07EA9CADEE}"/>
              </a:ext>
            </a:extLst>
          </p:cNvPr>
          <p:cNvSpPr>
            <a:spLocks/>
          </p:cNvSpPr>
          <p:nvPr/>
        </p:nvSpPr>
        <p:spPr>
          <a:xfrm>
            <a:off x="7409569" y="1508690"/>
            <a:ext cx="246509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0E199A14-9B25-425A-E79F-85808A01841E}"/>
              </a:ext>
            </a:extLst>
          </p:cNvPr>
          <p:cNvSpPr>
            <a:spLocks/>
          </p:cNvSpPr>
          <p:nvPr/>
        </p:nvSpPr>
        <p:spPr>
          <a:xfrm>
            <a:off x="4136491" y="4396018"/>
            <a:ext cx="257475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6" name="矩形 205">
            <a:extLst>
              <a:ext uri="{FF2B5EF4-FFF2-40B4-BE49-F238E27FC236}">
                <a16:creationId xmlns:a16="http://schemas.microsoft.com/office/drawing/2014/main" id="{08E67D5D-5608-7746-BD1C-9790CE59C946}"/>
              </a:ext>
            </a:extLst>
          </p:cNvPr>
          <p:cNvSpPr>
            <a:spLocks/>
          </p:cNvSpPr>
          <p:nvPr/>
        </p:nvSpPr>
        <p:spPr>
          <a:xfrm>
            <a:off x="4265034" y="4146947"/>
            <a:ext cx="257475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0BB2907-3A76-5860-2897-DD257ACB43CB}"/>
              </a:ext>
            </a:extLst>
          </p:cNvPr>
          <p:cNvSpPr txBox="1">
            <a:spLocks/>
          </p:cNvSpPr>
          <p:nvPr/>
        </p:nvSpPr>
        <p:spPr>
          <a:xfrm rot="10800000" flipV="1">
            <a:off x="5423199" y="668802"/>
            <a:ext cx="2854432" cy="14248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FF0000"/>
                </a:solidFill>
                <a:latin typeface="字酷堂清楷 简" panose="02000500000000000000" pitchFamily="2" charset="-122"/>
                <a:ea typeface="字酷堂清楷 简" panose="02000500000000000000" pitchFamily="2" charset="-122"/>
              </a:defRPr>
            </a:lvl1pPr>
          </a:lstStyle>
          <a:p>
            <a:pPr algn="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800" b="0" i="0" dirty="0">
                <a:solidFill>
                  <a:srgbClr val="000000"/>
                </a:solidFill>
                <a:effectLst/>
                <a:latin typeface="梦源黑体 CN W18" panose="020B0200000000000000" pitchFamily="34" charset="-122"/>
                <a:ea typeface="梦源黑体 CN W18" panose="020B0200000000000000" pitchFamily="34" charset="-122"/>
              </a:rPr>
              <a:t>根据赛事规定，山东泰山将面临至少</a:t>
            </a:r>
            <a:r>
              <a:rPr lang="en-US" altLang="zh-CN" sz="800" b="0" i="0" dirty="0">
                <a:solidFill>
                  <a:srgbClr val="000000"/>
                </a:solidFill>
                <a:effectLst/>
                <a:latin typeface="梦源黑体 CN W18" panose="020B0200000000000000" pitchFamily="34" charset="-122"/>
                <a:ea typeface="梦源黑体 CN W18" panose="020B0200000000000000" pitchFamily="34" charset="-122"/>
              </a:rPr>
              <a:t>5</a:t>
            </a:r>
            <a:r>
              <a:rPr lang="zh-CN" altLang="en-US" sz="800" b="0" i="0" dirty="0">
                <a:solidFill>
                  <a:srgbClr val="000000"/>
                </a:solidFill>
                <a:effectLst/>
                <a:latin typeface="梦源黑体 CN W18" panose="020B0200000000000000" pitchFamily="34" charset="-122"/>
                <a:ea typeface="梦源黑体 CN W18" panose="020B0200000000000000" pitchFamily="34" charset="-122"/>
              </a:rPr>
              <a:t>万美元的罚款，以及至少</a:t>
            </a:r>
            <a:r>
              <a:rPr lang="en-US" altLang="zh-CN" sz="800" b="0" i="0" dirty="0">
                <a:solidFill>
                  <a:srgbClr val="000000"/>
                </a:solidFill>
                <a:effectLst/>
                <a:latin typeface="梦源黑体 CN W18" panose="020B0200000000000000" pitchFamily="34" charset="-122"/>
                <a:ea typeface="梦源黑体 CN W18" panose="020B0200000000000000" pitchFamily="34" charset="-122"/>
              </a:rPr>
              <a:t>1</a:t>
            </a:r>
            <a:r>
              <a:rPr lang="zh-CN" altLang="en-US" sz="800" b="0" i="0" dirty="0">
                <a:solidFill>
                  <a:srgbClr val="000000"/>
                </a:solidFill>
                <a:effectLst/>
                <a:latin typeface="梦源黑体 CN W18" panose="020B0200000000000000" pitchFamily="34" charset="-122"/>
                <a:ea typeface="梦源黑体 CN W18" panose="020B0200000000000000" pitchFamily="34" charset="-122"/>
              </a:rPr>
              <a:t>个赛季被禁止参加亚足联赛事，还要退回此前收到的所有赛事奖金。</a:t>
            </a:r>
          </a:p>
          <a:p>
            <a:pPr algn="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800" b="0" i="0" dirty="0">
                <a:solidFill>
                  <a:srgbClr val="000000"/>
                </a:solidFill>
                <a:effectLst/>
                <a:latin typeface="梦源黑体 CN W18" panose="020B0200000000000000" pitchFamily="34" charset="-122"/>
                <a:ea typeface="梦源黑体 CN W18" panose="020B0200000000000000" pitchFamily="34" charset="-122"/>
              </a:rPr>
              <a:t>泰山还可能要支付一笔赔偿金，以弥补其他俱乐部和商业机构所遭受的损失， 具体决定将由亚足联纪律和道德委员会做出。</a:t>
            </a:r>
            <a:r>
              <a:rPr lang="en-US" altLang="zh-CN" sz="800" b="0" i="0" dirty="0" err="1">
                <a:solidFill>
                  <a:srgbClr val="000000"/>
                </a:solidFill>
                <a:effectLst/>
                <a:latin typeface="梦源黑体 CN W18" panose="020B0200000000000000" pitchFamily="34" charset="-122"/>
                <a:ea typeface="梦源黑体 CN W18" panose="020B0200000000000000" pitchFamily="34" charset="-122"/>
              </a:rPr>
              <a:t>Volume_upvolume_upvolume_downvolume_downvolume_downvolume_down</a:t>
            </a:r>
            <a:endParaRPr lang="zh-CN" altLang="en-US" sz="800" b="0" i="0" dirty="0">
              <a:solidFill>
                <a:srgbClr val="000000"/>
              </a:solidFill>
              <a:effectLst/>
              <a:latin typeface="梦源黑体 CN W18" panose="020B0200000000000000" pitchFamily="34" charset="-122"/>
              <a:ea typeface="梦源黑体 CN W18" panose="020B0200000000000000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697B8F5-0906-3790-0C79-D09B3A72181F}"/>
              </a:ext>
            </a:extLst>
          </p:cNvPr>
          <p:cNvSpPr>
            <a:spLocks/>
          </p:cNvSpPr>
          <p:nvPr/>
        </p:nvSpPr>
        <p:spPr>
          <a:xfrm>
            <a:off x="957184" y="6186800"/>
            <a:ext cx="257475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A528566B-253A-DB51-C87A-68B36EB1D270}"/>
              </a:ext>
            </a:extLst>
          </p:cNvPr>
          <p:cNvSpPr>
            <a:spLocks/>
          </p:cNvSpPr>
          <p:nvPr/>
        </p:nvSpPr>
        <p:spPr>
          <a:xfrm>
            <a:off x="1316259" y="6186800"/>
            <a:ext cx="257475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8F44D776-6506-92BE-2997-2CD4E56DF231}"/>
              </a:ext>
            </a:extLst>
          </p:cNvPr>
          <p:cNvSpPr>
            <a:spLocks/>
          </p:cNvSpPr>
          <p:nvPr/>
        </p:nvSpPr>
        <p:spPr>
          <a:xfrm>
            <a:off x="1675334" y="6186800"/>
            <a:ext cx="257475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57022F2E-6233-EBFD-F0CE-70BD0BD6BC19}"/>
              </a:ext>
            </a:extLst>
          </p:cNvPr>
          <p:cNvSpPr>
            <a:spLocks/>
          </p:cNvSpPr>
          <p:nvPr/>
        </p:nvSpPr>
        <p:spPr>
          <a:xfrm>
            <a:off x="2034409" y="6186800"/>
            <a:ext cx="257475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48A1DC95-5F7D-B4A4-27F2-61AC755AEFDF}"/>
              </a:ext>
            </a:extLst>
          </p:cNvPr>
          <p:cNvSpPr>
            <a:spLocks/>
          </p:cNvSpPr>
          <p:nvPr/>
        </p:nvSpPr>
        <p:spPr>
          <a:xfrm>
            <a:off x="2393484" y="6186800"/>
            <a:ext cx="257475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F55501DD-5D50-2035-46A7-335339C750E5}"/>
              </a:ext>
            </a:extLst>
          </p:cNvPr>
          <p:cNvSpPr>
            <a:spLocks/>
          </p:cNvSpPr>
          <p:nvPr/>
        </p:nvSpPr>
        <p:spPr>
          <a:xfrm>
            <a:off x="2752559" y="6186800"/>
            <a:ext cx="257475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5509A467-7A10-A56C-439C-FDE940DE544B}"/>
              </a:ext>
            </a:extLst>
          </p:cNvPr>
          <p:cNvSpPr>
            <a:spLocks/>
          </p:cNvSpPr>
          <p:nvPr/>
        </p:nvSpPr>
        <p:spPr>
          <a:xfrm>
            <a:off x="3111634" y="6186800"/>
            <a:ext cx="257475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F4DD0A52-6EB8-1997-F464-F0CAE1415EF5}"/>
              </a:ext>
            </a:extLst>
          </p:cNvPr>
          <p:cNvSpPr>
            <a:spLocks/>
          </p:cNvSpPr>
          <p:nvPr/>
        </p:nvSpPr>
        <p:spPr>
          <a:xfrm>
            <a:off x="3470709" y="6186800"/>
            <a:ext cx="257475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1F901D95-190C-F25C-756B-842C73681376}"/>
              </a:ext>
            </a:extLst>
          </p:cNvPr>
          <p:cNvSpPr>
            <a:spLocks/>
          </p:cNvSpPr>
          <p:nvPr/>
        </p:nvSpPr>
        <p:spPr>
          <a:xfrm>
            <a:off x="3829784" y="6186800"/>
            <a:ext cx="257475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A6AEDB8C-8C9F-85B7-6BDF-BA1B10D7BBBA}"/>
              </a:ext>
            </a:extLst>
          </p:cNvPr>
          <p:cNvSpPr>
            <a:spLocks/>
          </p:cNvSpPr>
          <p:nvPr/>
        </p:nvSpPr>
        <p:spPr>
          <a:xfrm>
            <a:off x="4188859" y="6186800"/>
            <a:ext cx="257475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A20A665D-F747-6C41-669B-7D2326B44503}"/>
              </a:ext>
            </a:extLst>
          </p:cNvPr>
          <p:cNvSpPr>
            <a:spLocks/>
          </p:cNvSpPr>
          <p:nvPr/>
        </p:nvSpPr>
        <p:spPr>
          <a:xfrm>
            <a:off x="4547934" y="6186800"/>
            <a:ext cx="257475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9E8C9109-1E01-981E-D5DF-B78B168928E9}"/>
              </a:ext>
            </a:extLst>
          </p:cNvPr>
          <p:cNvSpPr>
            <a:spLocks/>
          </p:cNvSpPr>
          <p:nvPr/>
        </p:nvSpPr>
        <p:spPr>
          <a:xfrm>
            <a:off x="4907009" y="6186800"/>
            <a:ext cx="257475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DE7BBCE6-CE5D-F180-3CBF-BE51E9AA8FE9}"/>
              </a:ext>
            </a:extLst>
          </p:cNvPr>
          <p:cNvSpPr>
            <a:spLocks/>
          </p:cNvSpPr>
          <p:nvPr/>
        </p:nvSpPr>
        <p:spPr>
          <a:xfrm>
            <a:off x="5266084" y="6186800"/>
            <a:ext cx="257475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E3A4C745-2C17-AAD2-4205-3D1C088B7C03}"/>
              </a:ext>
            </a:extLst>
          </p:cNvPr>
          <p:cNvSpPr>
            <a:spLocks/>
          </p:cNvSpPr>
          <p:nvPr/>
        </p:nvSpPr>
        <p:spPr>
          <a:xfrm>
            <a:off x="5625159" y="6186800"/>
            <a:ext cx="257475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BD415CC0-3D82-E903-5BD8-6718826C63C4}"/>
              </a:ext>
            </a:extLst>
          </p:cNvPr>
          <p:cNvSpPr>
            <a:spLocks/>
          </p:cNvSpPr>
          <p:nvPr/>
        </p:nvSpPr>
        <p:spPr>
          <a:xfrm>
            <a:off x="5984234" y="6186800"/>
            <a:ext cx="257475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53486BE8-3078-B2D3-AF67-90658874706C}"/>
              </a:ext>
            </a:extLst>
          </p:cNvPr>
          <p:cNvSpPr>
            <a:spLocks/>
          </p:cNvSpPr>
          <p:nvPr/>
        </p:nvSpPr>
        <p:spPr>
          <a:xfrm>
            <a:off x="6343309" y="6186800"/>
            <a:ext cx="257475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07624066-6286-A565-6B1A-DF717D7E26B9}"/>
              </a:ext>
            </a:extLst>
          </p:cNvPr>
          <p:cNvSpPr>
            <a:spLocks/>
          </p:cNvSpPr>
          <p:nvPr/>
        </p:nvSpPr>
        <p:spPr>
          <a:xfrm>
            <a:off x="6702384" y="6186800"/>
            <a:ext cx="257475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EA2D2A1A-F2F2-DC82-9286-072AD73B557C}"/>
              </a:ext>
            </a:extLst>
          </p:cNvPr>
          <p:cNvSpPr>
            <a:spLocks/>
          </p:cNvSpPr>
          <p:nvPr/>
        </p:nvSpPr>
        <p:spPr>
          <a:xfrm>
            <a:off x="7061459" y="6186800"/>
            <a:ext cx="257475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2344F4C6-FF37-FFDE-52B3-D983C5731404}"/>
              </a:ext>
            </a:extLst>
          </p:cNvPr>
          <p:cNvSpPr>
            <a:spLocks/>
          </p:cNvSpPr>
          <p:nvPr/>
        </p:nvSpPr>
        <p:spPr>
          <a:xfrm>
            <a:off x="7420534" y="6186800"/>
            <a:ext cx="257475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AAC6A609-4666-CF0D-132D-CA0C50A124DC}"/>
              </a:ext>
            </a:extLst>
          </p:cNvPr>
          <p:cNvSpPr>
            <a:spLocks/>
          </p:cNvSpPr>
          <p:nvPr/>
        </p:nvSpPr>
        <p:spPr>
          <a:xfrm>
            <a:off x="9097777" y="3603532"/>
            <a:ext cx="460853" cy="2603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A6655A33-9EC4-7EA6-67D5-B16750871ACB}"/>
              </a:ext>
            </a:extLst>
          </p:cNvPr>
          <p:cNvSpPr>
            <a:spLocks/>
          </p:cNvSpPr>
          <p:nvPr/>
        </p:nvSpPr>
        <p:spPr>
          <a:xfrm>
            <a:off x="9660231" y="3603532"/>
            <a:ext cx="460853" cy="2603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6ED87CB8-DA32-C5B4-C79A-F6D8231D9EF6}"/>
              </a:ext>
            </a:extLst>
          </p:cNvPr>
          <p:cNvSpPr>
            <a:spLocks/>
          </p:cNvSpPr>
          <p:nvPr/>
        </p:nvSpPr>
        <p:spPr>
          <a:xfrm>
            <a:off x="8660211" y="4937030"/>
            <a:ext cx="460853" cy="2603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30D35E0B-D95A-77EA-DDCB-CA31BA9981B2}"/>
              </a:ext>
            </a:extLst>
          </p:cNvPr>
          <p:cNvSpPr>
            <a:spLocks/>
          </p:cNvSpPr>
          <p:nvPr/>
        </p:nvSpPr>
        <p:spPr>
          <a:xfrm>
            <a:off x="7668170" y="5981097"/>
            <a:ext cx="460853" cy="2603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4F936AC9-8197-38C2-1F65-0F37B556C943}"/>
              </a:ext>
            </a:extLst>
          </p:cNvPr>
          <p:cNvSpPr>
            <a:spLocks/>
          </p:cNvSpPr>
          <p:nvPr/>
        </p:nvSpPr>
        <p:spPr>
          <a:xfrm>
            <a:off x="8770551" y="4330023"/>
            <a:ext cx="460853" cy="2603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D37E7BBD-7BF8-9032-2D49-22029D43C998}"/>
              </a:ext>
            </a:extLst>
          </p:cNvPr>
          <p:cNvSpPr>
            <a:spLocks/>
          </p:cNvSpPr>
          <p:nvPr/>
        </p:nvSpPr>
        <p:spPr>
          <a:xfrm>
            <a:off x="8748252" y="5551499"/>
            <a:ext cx="460853" cy="2603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08EE7210-761A-90DE-0529-AADFFBF19FC5}"/>
              </a:ext>
            </a:extLst>
          </p:cNvPr>
          <p:cNvSpPr>
            <a:spLocks/>
          </p:cNvSpPr>
          <p:nvPr/>
        </p:nvSpPr>
        <p:spPr>
          <a:xfrm>
            <a:off x="9263022" y="4937030"/>
            <a:ext cx="460853" cy="2603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821327D3-AF74-4E85-7493-3870CE2D6499}"/>
              </a:ext>
            </a:extLst>
          </p:cNvPr>
          <p:cNvSpPr>
            <a:spLocks/>
          </p:cNvSpPr>
          <p:nvPr/>
        </p:nvSpPr>
        <p:spPr>
          <a:xfrm>
            <a:off x="9865833" y="4937030"/>
            <a:ext cx="460853" cy="2603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289BAFEC-6462-C959-78B2-F428F39FF182}"/>
              </a:ext>
            </a:extLst>
          </p:cNvPr>
          <p:cNvSpPr>
            <a:spLocks/>
          </p:cNvSpPr>
          <p:nvPr/>
        </p:nvSpPr>
        <p:spPr>
          <a:xfrm>
            <a:off x="10468644" y="4937030"/>
            <a:ext cx="460853" cy="2603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84565634-B5BB-57B9-136D-7FB85110B2DC}"/>
              </a:ext>
            </a:extLst>
          </p:cNvPr>
          <p:cNvSpPr>
            <a:spLocks/>
          </p:cNvSpPr>
          <p:nvPr/>
        </p:nvSpPr>
        <p:spPr>
          <a:xfrm>
            <a:off x="8756278" y="-348757"/>
            <a:ext cx="460853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8AFB9003-EB5C-6336-1808-2D757269582F}"/>
              </a:ext>
            </a:extLst>
          </p:cNvPr>
          <p:cNvSpPr>
            <a:spLocks/>
          </p:cNvSpPr>
          <p:nvPr/>
        </p:nvSpPr>
        <p:spPr>
          <a:xfrm>
            <a:off x="8756278" y="-1121557"/>
            <a:ext cx="460853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6D95A058-ABC5-19B6-42D3-B860BF4A554F}"/>
              </a:ext>
            </a:extLst>
          </p:cNvPr>
          <p:cNvSpPr>
            <a:spLocks/>
          </p:cNvSpPr>
          <p:nvPr/>
        </p:nvSpPr>
        <p:spPr>
          <a:xfrm>
            <a:off x="9318731" y="-1121557"/>
            <a:ext cx="460853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B620B63B-EA39-2E6B-5A3F-1A6D514316DF}"/>
              </a:ext>
            </a:extLst>
          </p:cNvPr>
          <p:cNvSpPr>
            <a:spLocks/>
          </p:cNvSpPr>
          <p:nvPr/>
        </p:nvSpPr>
        <p:spPr>
          <a:xfrm>
            <a:off x="8756278" y="-1121557"/>
            <a:ext cx="460853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2B2365FE-D8B7-FF96-2223-D5A37CE67F4B}"/>
              </a:ext>
            </a:extLst>
          </p:cNvPr>
          <p:cNvSpPr>
            <a:spLocks/>
          </p:cNvSpPr>
          <p:nvPr/>
        </p:nvSpPr>
        <p:spPr>
          <a:xfrm>
            <a:off x="10121085" y="-281420"/>
            <a:ext cx="460853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35B54E1B-01DD-617D-516D-C4ECD8541A3F}"/>
              </a:ext>
            </a:extLst>
          </p:cNvPr>
          <p:cNvSpPr>
            <a:spLocks/>
          </p:cNvSpPr>
          <p:nvPr/>
        </p:nvSpPr>
        <p:spPr>
          <a:xfrm>
            <a:off x="7308821" y="-1827020"/>
            <a:ext cx="460853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AF8B73E3-0B26-DDA3-65E2-FC51B4A23314}"/>
              </a:ext>
            </a:extLst>
          </p:cNvPr>
          <p:cNvSpPr>
            <a:spLocks/>
          </p:cNvSpPr>
          <p:nvPr/>
        </p:nvSpPr>
        <p:spPr>
          <a:xfrm>
            <a:off x="2622620" y="5838934"/>
            <a:ext cx="257475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3" name="任意多边形: 形状 202">
            <a:extLst>
              <a:ext uri="{FF2B5EF4-FFF2-40B4-BE49-F238E27FC236}">
                <a16:creationId xmlns:a16="http://schemas.microsoft.com/office/drawing/2014/main" id="{63FAE938-C9F3-61F8-C329-9185818A13C7}"/>
              </a:ext>
            </a:extLst>
          </p:cNvPr>
          <p:cNvSpPr>
            <a:spLocks/>
          </p:cNvSpPr>
          <p:nvPr/>
        </p:nvSpPr>
        <p:spPr>
          <a:xfrm>
            <a:off x="2822441" y="4839523"/>
            <a:ext cx="257475" cy="671200"/>
          </a:xfrm>
          <a:custGeom>
            <a:avLst/>
            <a:gdLst>
              <a:gd name="connsiteX0" fmla="*/ 0 w 531625"/>
              <a:gd name="connsiteY0" fmla="*/ 0 h 373957"/>
              <a:gd name="connsiteX1" fmla="*/ 531625 w 531625"/>
              <a:gd name="connsiteY1" fmla="*/ 0 h 373957"/>
              <a:gd name="connsiteX2" fmla="*/ 531625 w 531625"/>
              <a:gd name="connsiteY2" fmla="*/ 373957 h 373957"/>
              <a:gd name="connsiteX3" fmla="*/ 0 w 531625"/>
              <a:gd name="connsiteY3" fmla="*/ 373957 h 373957"/>
              <a:gd name="connsiteX4" fmla="*/ 0 w 531625"/>
              <a:gd name="connsiteY4" fmla="*/ 0 h 373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1625" h="373957">
                <a:moveTo>
                  <a:pt x="0" y="0"/>
                </a:moveTo>
                <a:lnTo>
                  <a:pt x="531625" y="0"/>
                </a:lnTo>
                <a:lnTo>
                  <a:pt x="531625" y="373957"/>
                </a:lnTo>
                <a:lnTo>
                  <a:pt x="0" y="37395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4" name="任意多边形: 形状 203" hidden="1">
            <a:extLst>
              <a:ext uri="{FF2B5EF4-FFF2-40B4-BE49-F238E27FC236}">
                <a16:creationId xmlns:a16="http://schemas.microsoft.com/office/drawing/2014/main" id="{4E8FD667-F2FA-FEFD-E15C-949F460023AB}"/>
              </a:ext>
            </a:extLst>
          </p:cNvPr>
          <p:cNvSpPr>
            <a:spLocks/>
          </p:cNvSpPr>
          <p:nvPr/>
        </p:nvSpPr>
        <p:spPr>
          <a:xfrm>
            <a:off x="4236566" y="3413364"/>
            <a:ext cx="460853" cy="260377"/>
          </a:xfrm>
          <a:custGeom>
            <a:avLst/>
            <a:gdLst>
              <a:gd name="connsiteX0" fmla="*/ 584406 w 1152455"/>
              <a:gd name="connsiteY0" fmla="*/ 1384235 h 1758192"/>
              <a:gd name="connsiteX1" fmla="*/ 1152455 w 1152455"/>
              <a:gd name="connsiteY1" fmla="*/ 1384235 h 1758192"/>
              <a:gd name="connsiteX2" fmla="*/ 1152455 w 1152455"/>
              <a:gd name="connsiteY2" fmla="*/ 1758192 h 1758192"/>
              <a:gd name="connsiteX3" fmla="*/ 584406 w 1152455"/>
              <a:gd name="connsiteY3" fmla="*/ 1758192 h 1758192"/>
              <a:gd name="connsiteX4" fmla="*/ 0 w 1152455"/>
              <a:gd name="connsiteY4" fmla="*/ 0 h 1758192"/>
              <a:gd name="connsiteX5" fmla="*/ 706071 w 1152455"/>
              <a:gd name="connsiteY5" fmla="*/ 0 h 1758192"/>
              <a:gd name="connsiteX6" fmla="*/ 706071 w 1152455"/>
              <a:gd name="connsiteY6" fmla="*/ 741337 h 1758192"/>
              <a:gd name="connsiteX7" fmla="*/ 174446 w 1152455"/>
              <a:gd name="connsiteY7" fmla="*/ 741337 h 1758192"/>
              <a:gd name="connsiteX8" fmla="*/ 174446 w 1152455"/>
              <a:gd name="connsiteY8" fmla="*/ 1115294 h 1758192"/>
              <a:gd name="connsiteX9" fmla="*/ 706071 w 1152455"/>
              <a:gd name="connsiteY9" fmla="*/ 1115294 h 1758192"/>
              <a:gd name="connsiteX10" fmla="*/ 706071 w 1152455"/>
              <a:gd name="connsiteY10" fmla="*/ 1161887 h 1758192"/>
              <a:gd name="connsiteX11" fmla="*/ 0 w 1152455"/>
              <a:gd name="connsiteY11" fmla="*/ 1161887 h 1758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52455" h="1758192">
                <a:moveTo>
                  <a:pt x="584406" y="1384235"/>
                </a:moveTo>
                <a:lnTo>
                  <a:pt x="1152455" y="1384235"/>
                </a:lnTo>
                <a:lnTo>
                  <a:pt x="1152455" y="1758192"/>
                </a:lnTo>
                <a:lnTo>
                  <a:pt x="584406" y="1758192"/>
                </a:lnTo>
                <a:close/>
                <a:moveTo>
                  <a:pt x="0" y="0"/>
                </a:moveTo>
                <a:lnTo>
                  <a:pt x="706071" y="0"/>
                </a:lnTo>
                <a:lnTo>
                  <a:pt x="706071" y="741337"/>
                </a:lnTo>
                <a:lnTo>
                  <a:pt x="174446" y="741337"/>
                </a:lnTo>
                <a:lnTo>
                  <a:pt x="174446" y="1115294"/>
                </a:lnTo>
                <a:lnTo>
                  <a:pt x="706071" y="1115294"/>
                </a:lnTo>
                <a:lnTo>
                  <a:pt x="706071" y="1161887"/>
                </a:lnTo>
                <a:lnTo>
                  <a:pt x="0" y="1161887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400"/>
          </a:p>
        </p:txBody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F57BD045-6727-44B1-622E-F47EE0949BD7}"/>
              </a:ext>
            </a:extLst>
          </p:cNvPr>
          <p:cNvSpPr>
            <a:spLocks/>
          </p:cNvSpPr>
          <p:nvPr/>
        </p:nvSpPr>
        <p:spPr>
          <a:xfrm>
            <a:off x="3088254" y="928581"/>
            <a:ext cx="460853" cy="2603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A03AB83C-9FE6-4505-E466-4D9FDCFF828A}"/>
              </a:ext>
            </a:extLst>
          </p:cNvPr>
          <p:cNvSpPr>
            <a:spLocks/>
          </p:cNvSpPr>
          <p:nvPr/>
        </p:nvSpPr>
        <p:spPr>
          <a:xfrm>
            <a:off x="3970170" y="928581"/>
            <a:ext cx="460853" cy="2603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0304040E-EC90-7AEB-252B-DA50BAAE405C}"/>
              </a:ext>
            </a:extLst>
          </p:cNvPr>
          <p:cNvSpPr>
            <a:spLocks/>
          </p:cNvSpPr>
          <p:nvPr/>
        </p:nvSpPr>
        <p:spPr>
          <a:xfrm>
            <a:off x="4852086" y="928580"/>
            <a:ext cx="460853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89" name="矩形 188" hidden="1">
            <a:extLst>
              <a:ext uri="{FF2B5EF4-FFF2-40B4-BE49-F238E27FC236}">
                <a16:creationId xmlns:a16="http://schemas.microsoft.com/office/drawing/2014/main" id="{60630B1B-B888-7932-5572-ABD6771C9A89}"/>
              </a:ext>
            </a:extLst>
          </p:cNvPr>
          <p:cNvSpPr>
            <a:spLocks/>
          </p:cNvSpPr>
          <p:nvPr/>
        </p:nvSpPr>
        <p:spPr>
          <a:xfrm>
            <a:off x="5753896" y="2627575"/>
            <a:ext cx="460853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89F3141D-B827-A4DA-DA35-F32D7D52E8A6}"/>
              </a:ext>
            </a:extLst>
          </p:cNvPr>
          <p:cNvSpPr>
            <a:spLocks/>
          </p:cNvSpPr>
          <p:nvPr/>
        </p:nvSpPr>
        <p:spPr>
          <a:xfrm>
            <a:off x="5293043" y="5166025"/>
            <a:ext cx="257475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33D32CA3-2850-CB58-B065-5AB867989E59}"/>
              </a:ext>
            </a:extLst>
          </p:cNvPr>
          <p:cNvSpPr>
            <a:spLocks/>
          </p:cNvSpPr>
          <p:nvPr/>
        </p:nvSpPr>
        <p:spPr>
          <a:xfrm>
            <a:off x="4054615" y="2446814"/>
            <a:ext cx="1671842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矩形 114" hidden="1">
            <a:extLst>
              <a:ext uri="{FF2B5EF4-FFF2-40B4-BE49-F238E27FC236}">
                <a16:creationId xmlns:a16="http://schemas.microsoft.com/office/drawing/2014/main" id="{D036E678-9B9D-33DD-7651-C420C46AAE1E}"/>
              </a:ext>
            </a:extLst>
          </p:cNvPr>
          <p:cNvSpPr>
            <a:spLocks/>
          </p:cNvSpPr>
          <p:nvPr/>
        </p:nvSpPr>
        <p:spPr>
          <a:xfrm>
            <a:off x="4846726" y="3413364"/>
            <a:ext cx="460853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EFBFE45-64BF-3D4A-313C-7D18928FD6CD}"/>
              </a:ext>
            </a:extLst>
          </p:cNvPr>
          <p:cNvSpPr>
            <a:spLocks/>
          </p:cNvSpPr>
          <p:nvPr/>
        </p:nvSpPr>
        <p:spPr>
          <a:xfrm>
            <a:off x="704840" y="3698545"/>
            <a:ext cx="1671842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8CFA6E8-1AC2-0100-22B3-58095D8AD4B3}"/>
              </a:ext>
            </a:extLst>
          </p:cNvPr>
          <p:cNvSpPr>
            <a:spLocks/>
          </p:cNvSpPr>
          <p:nvPr/>
        </p:nvSpPr>
        <p:spPr>
          <a:xfrm>
            <a:off x="6784277" y="355750"/>
            <a:ext cx="460853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B24DDF-00C3-8881-8F6B-C5CD0812FE5D}"/>
              </a:ext>
            </a:extLst>
          </p:cNvPr>
          <p:cNvSpPr>
            <a:spLocks/>
          </p:cNvSpPr>
          <p:nvPr/>
        </p:nvSpPr>
        <p:spPr>
          <a:xfrm>
            <a:off x="10460271" y="3184680"/>
            <a:ext cx="460853" cy="2603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F271AFA-61C4-BD35-AF02-71D3A331E3E8}"/>
              </a:ext>
            </a:extLst>
          </p:cNvPr>
          <p:cNvSpPr>
            <a:spLocks/>
          </p:cNvSpPr>
          <p:nvPr/>
        </p:nvSpPr>
        <p:spPr>
          <a:xfrm>
            <a:off x="11022725" y="3184680"/>
            <a:ext cx="460853" cy="2603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872EAE5-8B17-002D-157F-1AF3E6704658}"/>
              </a:ext>
            </a:extLst>
          </p:cNvPr>
          <p:cNvSpPr>
            <a:spLocks/>
          </p:cNvSpPr>
          <p:nvPr/>
        </p:nvSpPr>
        <p:spPr>
          <a:xfrm>
            <a:off x="10133045" y="3911171"/>
            <a:ext cx="460853" cy="2603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8A711C2-1151-2A97-778D-4182FFB501D8}"/>
              </a:ext>
            </a:extLst>
          </p:cNvPr>
          <p:cNvSpPr>
            <a:spLocks/>
          </p:cNvSpPr>
          <p:nvPr/>
        </p:nvSpPr>
        <p:spPr>
          <a:xfrm>
            <a:off x="6214580" y="509728"/>
            <a:ext cx="460853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A41050-C758-40EB-D97D-FCCFF163C001}"/>
              </a:ext>
            </a:extLst>
          </p:cNvPr>
          <p:cNvSpPr>
            <a:spLocks/>
          </p:cNvSpPr>
          <p:nvPr/>
        </p:nvSpPr>
        <p:spPr>
          <a:xfrm>
            <a:off x="7710178" y="1565289"/>
            <a:ext cx="1671842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5412C48-88F2-7246-630B-C9124A81B8CE}"/>
              </a:ext>
            </a:extLst>
          </p:cNvPr>
          <p:cNvSpPr>
            <a:spLocks/>
          </p:cNvSpPr>
          <p:nvPr/>
        </p:nvSpPr>
        <p:spPr>
          <a:xfrm>
            <a:off x="7240211" y="2547282"/>
            <a:ext cx="1671842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58176D0-00B7-A4CC-4DDC-AEF9172108DA}"/>
              </a:ext>
            </a:extLst>
          </p:cNvPr>
          <p:cNvSpPr>
            <a:spLocks/>
          </p:cNvSpPr>
          <p:nvPr/>
        </p:nvSpPr>
        <p:spPr>
          <a:xfrm>
            <a:off x="7538874" y="4146947"/>
            <a:ext cx="1671842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15FE2AA-8F99-C77C-05DC-B94A2CB8FEA3}"/>
              </a:ext>
            </a:extLst>
          </p:cNvPr>
          <p:cNvSpPr>
            <a:spLocks/>
          </p:cNvSpPr>
          <p:nvPr/>
        </p:nvSpPr>
        <p:spPr>
          <a:xfrm>
            <a:off x="8796802" y="2242722"/>
            <a:ext cx="1671842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F2532E2-C29A-21E4-8447-8954A81044A4}"/>
              </a:ext>
            </a:extLst>
          </p:cNvPr>
          <p:cNvSpPr txBox="1">
            <a:spLocks/>
          </p:cNvSpPr>
          <p:nvPr/>
        </p:nvSpPr>
        <p:spPr>
          <a:xfrm rot="10800000" flipV="1">
            <a:off x="8705829" y="715051"/>
            <a:ext cx="2854432" cy="14248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FF0000"/>
                </a:solidFill>
                <a:latin typeface="字酷堂清楷 简" panose="02000500000000000000" pitchFamily="2" charset="-122"/>
                <a:ea typeface="字酷堂清楷 简" panose="02000500000000000000" pitchFamily="2" charset="-122"/>
              </a:defRPr>
            </a:lvl1pPr>
          </a:lstStyle>
          <a:p>
            <a:pPr algn="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800" b="0" i="0" dirty="0">
                <a:solidFill>
                  <a:srgbClr val="000000"/>
                </a:solidFill>
                <a:effectLst/>
                <a:latin typeface="梦源黑体 CN W18" panose="020B0200000000000000" pitchFamily="34" charset="-122"/>
                <a:ea typeface="梦源黑体 CN W18" panose="020B0200000000000000" pitchFamily="34" charset="-122"/>
              </a:rPr>
              <a:t>根据赛事规定，山东泰山将面临至少</a:t>
            </a:r>
            <a:r>
              <a:rPr lang="en-US" altLang="zh-CN" sz="800" b="0" i="0" dirty="0">
                <a:solidFill>
                  <a:srgbClr val="000000"/>
                </a:solidFill>
                <a:effectLst/>
                <a:latin typeface="梦源黑体 CN W18" panose="020B0200000000000000" pitchFamily="34" charset="-122"/>
                <a:ea typeface="梦源黑体 CN W18" panose="020B0200000000000000" pitchFamily="34" charset="-122"/>
              </a:rPr>
              <a:t>5</a:t>
            </a:r>
            <a:r>
              <a:rPr lang="zh-CN" altLang="en-US" sz="800" b="0" i="0" dirty="0">
                <a:solidFill>
                  <a:srgbClr val="000000"/>
                </a:solidFill>
                <a:effectLst/>
                <a:latin typeface="梦源黑体 CN W18" panose="020B0200000000000000" pitchFamily="34" charset="-122"/>
                <a:ea typeface="梦源黑体 CN W18" panose="020B0200000000000000" pitchFamily="34" charset="-122"/>
              </a:rPr>
              <a:t>万美元的罚款，以及至少</a:t>
            </a:r>
            <a:r>
              <a:rPr lang="en-US" altLang="zh-CN" sz="800" b="0" i="0" dirty="0">
                <a:solidFill>
                  <a:srgbClr val="000000"/>
                </a:solidFill>
                <a:effectLst/>
                <a:latin typeface="梦源黑体 CN W18" panose="020B0200000000000000" pitchFamily="34" charset="-122"/>
                <a:ea typeface="梦源黑体 CN W18" panose="020B0200000000000000" pitchFamily="34" charset="-122"/>
              </a:rPr>
              <a:t>1</a:t>
            </a:r>
            <a:r>
              <a:rPr lang="zh-CN" altLang="en-US" sz="800" b="0" i="0" dirty="0">
                <a:solidFill>
                  <a:srgbClr val="000000"/>
                </a:solidFill>
                <a:effectLst/>
                <a:latin typeface="梦源黑体 CN W18" panose="020B0200000000000000" pitchFamily="34" charset="-122"/>
                <a:ea typeface="梦源黑体 CN W18" panose="020B0200000000000000" pitchFamily="34" charset="-122"/>
              </a:rPr>
              <a:t>个赛季被禁止参加亚足联赛事，还要退回此前收到的所有赛事奖金。</a:t>
            </a:r>
          </a:p>
          <a:p>
            <a:pPr algn="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800" b="0" i="0" dirty="0">
                <a:solidFill>
                  <a:srgbClr val="000000"/>
                </a:solidFill>
                <a:effectLst/>
                <a:latin typeface="梦源黑体 CN W18" panose="020B0200000000000000" pitchFamily="34" charset="-122"/>
                <a:ea typeface="梦源黑体 CN W18" panose="020B0200000000000000" pitchFamily="34" charset="-122"/>
              </a:rPr>
              <a:t>泰山还可能要支付一笔赔偿金，以弥补其他俱乐部和商业机构所遭受的损失， 具体决定将由亚足联纪律和道德委员会做出。</a:t>
            </a:r>
            <a:r>
              <a:rPr lang="en-US" altLang="zh-CN" sz="800" b="0" i="0" dirty="0" err="1">
                <a:solidFill>
                  <a:srgbClr val="000000"/>
                </a:solidFill>
                <a:effectLst/>
                <a:latin typeface="梦源黑体 CN W18" panose="020B0200000000000000" pitchFamily="34" charset="-122"/>
                <a:ea typeface="梦源黑体 CN W18" panose="020B0200000000000000" pitchFamily="34" charset="-122"/>
              </a:rPr>
              <a:t>Volume_upvolume_upvolume_downvolume_downvolume_downvolume_down</a:t>
            </a:r>
            <a:endParaRPr lang="zh-CN" altLang="en-US" sz="800" b="0" i="0" dirty="0">
              <a:solidFill>
                <a:srgbClr val="000000"/>
              </a:solidFill>
              <a:effectLst/>
              <a:latin typeface="梦源黑体 CN W18" panose="020B0200000000000000" pitchFamily="34" charset="-122"/>
              <a:ea typeface="梦源黑体 CN W18" panose="020B02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0222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68A87-F96E-5AD9-62F0-FCD225187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9788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A51A0-0D44-4E6D-AC28-1C7015496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矩形 188">
            <a:extLst>
              <a:ext uri="{FF2B5EF4-FFF2-40B4-BE49-F238E27FC236}">
                <a16:creationId xmlns:a16="http://schemas.microsoft.com/office/drawing/2014/main" id="{1C323386-05B7-E42D-519E-44712EF4E0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653695" y="928580"/>
            <a:ext cx="460853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A462060-E93C-9382-9DB7-57BA82B736C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rot="10800000" flipV="1">
            <a:off x="505593" y="1915136"/>
            <a:ext cx="2854432" cy="14248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FF0000"/>
                </a:solidFill>
                <a:latin typeface="字酷堂清楷 简" panose="02000500000000000000" pitchFamily="2" charset="-122"/>
                <a:ea typeface="字酷堂清楷 简" panose="02000500000000000000" pitchFamily="2" charset="-122"/>
              </a:defRPr>
            </a:lvl1pPr>
          </a:lstStyle>
          <a:p>
            <a:pPr algn="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800" b="0" i="0" dirty="0">
                <a:solidFill>
                  <a:srgbClr val="000000"/>
                </a:solidFill>
                <a:effectLst/>
                <a:latin typeface="梦源黑体 CN W18" panose="020B0200000000000000" pitchFamily="34" charset="-122"/>
                <a:ea typeface="梦源黑体 CN W18" panose="020B0200000000000000" pitchFamily="34" charset="-122"/>
              </a:rPr>
              <a:t>根据赛事规定，山东泰山将面临至少</a:t>
            </a:r>
            <a:r>
              <a:rPr lang="en-US" altLang="zh-CN" sz="800" b="0" i="0" dirty="0">
                <a:solidFill>
                  <a:srgbClr val="000000"/>
                </a:solidFill>
                <a:effectLst/>
                <a:latin typeface="梦源黑体 CN W18" panose="020B0200000000000000" pitchFamily="34" charset="-122"/>
                <a:ea typeface="梦源黑体 CN W18" panose="020B0200000000000000" pitchFamily="34" charset="-122"/>
              </a:rPr>
              <a:t>5</a:t>
            </a:r>
            <a:r>
              <a:rPr lang="zh-CN" altLang="en-US" sz="800" b="0" i="0" dirty="0">
                <a:solidFill>
                  <a:srgbClr val="000000"/>
                </a:solidFill>
                <a:effectLst/>
                <a:latin typeface="梦源黑体 CN W18" panose="020B0200000000000000" pitchFamily="34" charset="-122"/>
                <a:ea typeface="梦源黑体 CN W18" panose="020B0200000000000000" pitchFamily="34" charset="-122"/>
              </a:rPr>
              <a:t>万美元的罚款，以及至少</a:t>
            </a:r>
            <a:r>
              <a:rPr lang="en-US" altLang="zh-CN" sz="800" b="0" i="0" dirty="0">
                <a:solidFill>
                  <a:srgbClr val="000000"/>
                </a:solidFill>
                <a:effectLst/>
                <a:latin typeface="梦源黑体 CN W18" panose="020B0200000000000000" pitchFamily="34" charset="-122"/>
                <a:ea typeface="梦源黑体 CN W18" panose="020B0200000000000000" pitchFamily="34" charset="-122"/>
              </a:rPr>
              <a:t>1</a:t>
            </a:r>
            <a:r>
              <a:rPr lang="zh-CN" altLang="en-US" sz="800" b="0" i="0" dirty="0">
                <a:solidFill>
                  <a:srgbClr val="000000"/>
                </a:solidFill>
                <a:effectLst/>
                <a:latin typeface="梦源黑体 CN W18" panose="020B0200000000000000" pitchFamily="34" charset="-122"/>
                <a:ea typeface="梦源黑体 CN W18" panose="020B0200000000000000" pitchFamily="34" charset="-122"/>
              </a:rPr>
              <a:t>个赛季被禁止参加亚足联赛事，还要退回此前收到的所有赛事奖金。</a:t>
            </a:r>
          </a:p>
          <a:p>
            <a:pPr algn="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800" b="0" i="0" dirty="0">
                <a:solidFill>
                  <a:srgbClr val="000000"/>
                </a:solidFill>
                <a:effectLst/>
                <a:latin typeface="梦源黑体 CN W18" panose="020B0200000000000000" pitchFamily="34" charset="-122"/>
                <a:ea typeface="梦源黑体 CN W18" panose="020B0200000000000000" pitchFamily="34" charset="-122"/>
              </a:rPr>
              <a:t>泰山还可能要支付一笔赔偿金，以弥补其他俱乐部和商业机构所遭受的损失， 具体决定将由亚足联纪律和道德委员会做出。</a:t>
            </a:r>
            <a:r>
              <a:rPr lang="en-US" altLang="zh-CN" sz="800" b="0" i="0" dirty="0" err="1">
                <a:solidFill>
                  <a:srgbClr val="000000"/>
                </a:solidFill>
                <a:effectLst/>
                <a:latin typeface="梦源黑体 CN W18" panose="020B0200000000000000" pitchFamily="34" charset="-122"/>
                <a:ea typeface="梦源黑体 CN W18" panose="020B0200000000000000" pitchFamily="34" charset="-122"/>
              </a:rPr>
              <a:t>Volume_upvolume_upvolume_downvolume_downvolume_downvolume_down</a:t>
            </a:r>
            <a:endParaRPr lang="zh-CN" altLang="en-US" sz="800" b="0" i="0" dirty="0">
              <a:solidFill>
                <a:srgbClr val="000000"/>
              </a:solidFill>
              <a:effectLst/>
              <a:latin typeface="梦源黑体 CN W18" panose="020B0200000000000000" pitchFamily="34" charset="-122"/>
              <a:ea typeface="梦源黑体 CN W18" panose="020B0200000000000000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8932405-D511-E81D-5985-FBBC9268A3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57184" y="6186800"/>
            <a:ext cx="257475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1349D2F0-C3E6-65F8-DC06-483709C464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16259" y="6186800"/>
            <a:ext cx="257475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2EA9D908-9E42-5125-1196-C57AB89BA7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75334" y="6186800"/>
            <a:ext cx="257475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A1351DA2-D745-3D3D-6308-6CD5048ABA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34409" y="6186800"/>
            <a:ext cx="257475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7DB276B2-C0D4-9BE0-DBA1-4C3F663183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393484" y="6186800"/>
            <a:ext cx="257475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6659E511-2E03-4246-F3BC-7C19CCDC111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752559" y="6186800"/>
            <a:ext cx="257475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D480B8F-F3ED-008D-AF86-55885576A0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111634" y="6186800"/>
            <a:ext cx="257475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32F479B9-23A9-58F3-B680-D1923FA495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70709" y="6186800"/>
            <a:ext cx="257475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95C8A284-69AC-A317-5204-CDF53F8499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829784" y="6186800"/>
            <a:ext cx="257475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1802CF40-5B49-FC66-5777-F16F307537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188859" y="6186800"/>
            <a:ext cx="257475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7E748E54-B7DD-6905-C8AF-E6B5D782F6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547934" y="6186800"/>
            <a:ext cx="257475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54520F25-3202-E367-BD51-D4FB3630A4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907009" y="6186800"/>
            <a:ext cx="257475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EA47288F-22E4-E83C-5D77-4F4FCC3BFA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266084" y="6186800"/>
            <a:ext cx="257475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A3B191EC-C22F-7B5E-1BE1-96D16060B6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625159" y="6186800"/>
            <a:ext cx="257475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32804927-B2ED-25D9-CB8E-7417975DCE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84234" y="6186800"/>
            <a:ext cx="257475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22CE7F29-46F1-6EBE-7105-4EA789F9F0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343309" y="6186800"/>
            <a:ext cx="257475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FDFA5BF5-DE05-E494-5ED5-4B5590AAA8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702384" y="6186800"/>
            <a:ext cx="257475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A99C1A15-2F5A-05DF-2AE9-B9DC9A51CC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061459" y="6186800"/>
            <a:ext cx="257475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C301EA61-CBF3-3517-FCD6-E5ED0069E9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420534" y="6186800"/>
            <a:ext cx="257475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D555FE06-1331-7B99-83D8-F02DAC2C73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097777" y="3603532"/>
            <a:ext cx="460853" cy="2603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019075B8-67BA-2198-470C-516E3DB831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60231" y="3603532"/>
            <a:ext cx="460853" cy="2603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E26D5068-6C29-447C-98EA-7650C28A46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60211" y="4937030"/>
            <a:ext cx="460853" cy="2603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1E6B55CD-FE94-ECBB-9C9D-4A7A48EDA2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668170" y="5981097"/>
            <a:ext cx="460853" cy="2603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88D79CAA-FBA2-A492-1CDA-837250E49F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770551" y="4330023"/>
            <a:ext cx="460853" cy="2603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DF1EBE44-B86E-2DEC-6849-E822A0211D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748252" y="5551499"/>
            <a:ext cx="460853" cy="2603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FFD43ADD-787C-9927-B64E-7868E73895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63022" y="4937030"/>
            <a:ext cx="460853" cy="2603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DE1BA83D-E2C3-B329-F4F9-8B794282A9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865833" y="4937030"/>
            <a:ext cx="460853" cy="2603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69C9209B-7AC7-A63F-9423-48E64C2063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468644" y="4937030"/>
            <a:ext cx="460853" cy="2603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922CCB49-829B-1354-E3EF-A488F7040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193825" y="424043"/>
            <a:ext cx="460853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8AFEBE58-F969-B9AD-AFBB-BF79ACFACA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756278" y="-348757"/>
            <a:ext cx="460853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C6F5FD4A-7526-AE0B-7E95-0C1135FECE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756278" y="-1121557"/>
            <a:ext cx="460853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19262A1F-E3C7-3A07-3E03-3D2F10E460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18731" y="-1121557"/>
            <a:ext cx="460853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A976BDCB-64CE-D041-8E3A-C5DB8003C9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756278" y="-1121557"/>
            <a:ext cx="460853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4AE397B9-7BC0-3A04-68FF-AE11EB278F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996177" y="2036980"/>
            <a:ext cx="460853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9B3B6263-60C5-9BD2-49A1-EE5CCD68A4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558631" y="2036980"/>
            <a:ext cx="460853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69FDF664-5F9C-A7D7-0162-91751FC997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558631" y="1264180"/>
            <a:ext cx="460853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B79D0F63-85D0-B907-F205-E955AC74A4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121085" y="1264180"/>
            <a:ext cx="460853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47ED9C76-47A5-7B12-68EF-2FD89A6703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121085" y="491380"/>
            <a:ext cx="460853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92ACD83F-96E5-6B72-5A62-CEB1302BC0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121085" y="-281420"/>
            <a:ext cx="460853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99F38854-480A-7D76-8E4D-0F8E560A53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121085" y="491380"/>
            <a:ext cx="460853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3D073CEE-99A5-C911-8808-B6C33DFA67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558632" y="491380"/>
            <a:ext cx="460853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55983228-58BF-CE87-B281-B82150518B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996179" y="491380"/>
            <a:ext cx="460853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029DDFC8-6C0A-CE82-747F-3459FD5BB9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433726" y="491380"/>
            <a:ext cx="460853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2EBCA401-522C-C29A-45A3-E5F0C7580E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308821" y="-1827020"/>
            <a:ext cx="460853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DFC2D1C6-A771-B992-2BAC-342A8C969E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22620" y="5838934"/>
            <a:ext cx="257475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CC24E9A0-9FCD-F315-387F-81460BEE92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293043" y="5166025"/>
            <a:ext cx="257475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3" name="任意多边形: 形状 202">
            <a:extLst>
              <a:ext uri="{FF2B5EF4-FFF2-40B4-BE49-F238E27FC236}">
                <a16:creationId xmlns:a16="http://schemas.microsoft.com/office/drawing/2014/main" id="{D2FEB325-4E52-9C7A-5E95-141C1CF4F9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22441" y="4839523"/>
            <a:ext cx="257475" cy="671200"/>
          </a:xfrm>
          <a:custGeom>
            <a:avLst/>
            <a:gdLst>
              <a:gd name="connsiteX0" fmla="*/ 0 w 531625"/>
              <a:gd name="connsiteY0" fmla="*/ 0 h 373957"/>
              <a:gd name="connsiteX1" fmla="*/ 531625 w 531625"/>
              <a:gd name="connsiteY1" fmla="*/ 0 h 373957"/>
              <a:gd name="connsiteX2" fmla="*/ 531625 w 531625"/>
              <a:gd name="connsiteY2" fmla="*/ 373957 h 373957"/>
              <a:gd name="connsiteX3" fmla="*/ 0 w 531625"/>
              <a:gd name="connsiteY3" fmla="*/ 373957 h 373957"/>
              <a:gd name="connsiteX4" fmla="*/ 0 w 531625"/>
              <a:gd name="connsiteY4" fmla="*/ 0 h 373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1625" h="373957">
                <a:moveTo>
                  <a:pt x="0" y="0"/>
                </a:moveTo>
                <a:lnTo>
                  <a:pt x="531625" y="0"/>
                </a:lnTo>
                <a:lnTo>
                  <a:pt x="531625" y="373957"/>
                </a:lnTo>
                <a:lnTo>
                  <a:pt x="0" y="37395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4" name="任意多边形: 形状 203">
            <a:extLst>
              <a:ext uri="{FF2B5EF4-FFF2-40B4-BE49-F238E27FC236}">
                <a16:creationId xmlns:a16="http://schemas.microsoft.com/office/drawing/2014/main" id="{DC474706-F80A-9DC6-0F1D-D5DCB01BA1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882634" y="2522586"/>
            <a:ext cx="460853" cy="260377"/>
          </a:xfrm>
          <a:custGeom>
            <a:avLst/>
            <a:gdLst>
              <a:gd name="connsiteX0" fmla="*/ 584406 w 1152455"/>
              <a:gd name="connsiteY0" fmla="*/ 1384235 h 1758192"/>
              <a:gd name="connsiteX1" fmla="*/ 1152455 w 1152455"/>
              <a:gd name="connsiteY1" fmla="*/ 1384235 h 1758192"/>
              <a:gd name="connsiteX2" fmla="*/ 1152455 w 1152455"/>
              <a:gd name="connsiteY2" fmla="*/ 1758192 h 1758192"/>
              <a:gd name="connsiteX3" fmla="*/ 584406 w 1152455"/>
              <a:gd name="connsiteY3" fmla="*/ 1758192 h 1758192"/>
              <a:gd name="connsiteX4" fmla="*/ 0 w 1152455"/>
              <a:gd name="connsiteY4" fmla="*/ 0 h 1758192"/>
              <a:gd name="connsiteX5" fmla="*/ 706071 w 1152455"/>
              <a:gd name="connsiteY5" fmla="*/ 0 h 1758192"/>
              <a:gd name="connsiteX6" fmla="*/ 706071 w 1152455"/>
              <a:gd name="connsiteY6" fmla="*/ 741337 h 1758192"/>
              <a:gd name="connsiteX7" fmla="*/ 174446 w 1152455"/>
              <a:gd name="connsiteY7" fmla="*/ 741337 h 1758192"/>
              <a:gd name="connsiteX8" fmla="*/ 174446 w 1152455"/>
              <a:gd name="connsiteY8" fmla="*/ 1115294 h 1758192"/>
              <a:gd name="connsiteX9" fmla="*/ 706071 w 1152455"/>
              <a:gd name="connsiteY9" fmla="*/ 1115294 h 1758192"/>
              <a:gd name="connsiteX10" fmla="*/ 706071 w 1152455"/>
              <a:gd name="connsiteY10" fmla="*/ 1161887 h 1758192"/>
              <a:gd name="connsiteX11" fmla="*/ 0 w 1152455"/>
              <a:gd name="connsiteY11" fmla="*/ 1161887 h 1758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52455" h="1758192">
                <a:moveTo>
                  <a:pt x="584406" y="1384235"/>
                </a:moveTo>
                <a:lnTo>
                  <a:pt x="1152455" y="1384235"/>
                </a:lnTo>
                <a:lnTo>
                  <a:pt x="1152455" y="1758192"/>
                </a:lnTo>
                <a:lnTo>
                  <a:pt x="584406" y="1758192"/>
                </a:lnTo>
                <a:close/>
                <a:moveTo>
                  <a:pt x="0" y="0"/>
                </a:moveTo>
                <a:lnTo>
                  <a:pt x="706071" y="0"/>
                </a:lnTo>
                <a:lnTo>
                  <a:pt x="706071" y="741337"/>
                </a:lnTo>
                <a:lnTo>
                  <a:pt x="174446" y="741337"/>
                </a:lnTo>
                <a:lnTo>
                  <a:pt x="174446" y="1115294"/>
                </a:lnTo>
                <a:lnTo>
                  <a:pt x="706071" y="1115294"/>
                </a:lnTo>
                <a:lnTo>
                  <a:pt x="706071" y="1161887"/>
                </a:lnTo>
                <a:lnTo>
                  <a:pt x="0" y="1161887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400"/>
          </a:p>
        </p:txBody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FE335A6F-9774-04C0-55C0-7D34AF6B01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088254" y="928581"/>
            <a:ext cx="460853" cy="2603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88CD641A-C938-6F3F-3897-84B32707BF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64142" y="4184472"/>
            <a:ext cx="257475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CDD9CAB9-951E-978B-F598-1A51E4DF3B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970170" y="928581"/>
            <a:ext cx="460853" cy="2603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ABB9F8C5-9B55-2D03-EFB9-1CB5A34772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411128" y="1737447"/>
            <a:ext cx="460853" cy="2603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B0506744-CCFD-565F-72EB-6F53E8BFBB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52086" y="928580"/>
            <a:ext cx="460853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8080410B-CDCC-5459-F797-F43E2E6374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619557" y="1737446"/>
            <a:ext cx="460853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05" name="任意多边形: 形状 204">
            <a:extLst>
              <a:ext uri="{FF2B5EF4-FFF2-40B4-BE49-F238E27FC236}">
                <a16:creationId xmlns:a16="http://schemas.microsoft.com/office/drawing/2014/main" id="{62A883EF-C6E4-3208-8838-9715EE41FA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60025" y="3941725"/>
            <a:ext cx="257475" cy="671200"/>
          </a:xfrm>
          <a:custGeom>
            <a:avLst/>
            <a:gdLst>
              <a:gd name="connsiteX0" fmla="*/ 0 w 531625"/>
              <a:gd name="connsiteY0" fmla="*/ 0 h 373957"/>
              <a:gd name="connsiteX1" fmla="*/ 531625 w 531625"/>
              <a:gd name="connsiteY1" fmla="*/ 0 h 373957"/>
              <a:gd name="connsiteX2" fmla="*/ 531625 w 531625"/>
              <a:gd name="connsiteY2" fmla="*/ 373957 h 373957"/>
              <a:gd name="connsiteX3" fmla="*/ 0 w 531625"/>
              <a:gd name="connsiteY3" fmla="*/ 373957 h 373957"/>
              <a:gd name="connsiteX4" fmla="*/ 0 w 531625"/>
              <a:gd name="connsiteY4" fmla="*/ 0 h 373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1625" h="373957">
                <a:moveTo>
                  <a:pt x="0" y="0"/>
                </a:moveTo>
                <a:lnTo>
                  <a:pt x="531625" y="0"/>
                </a:lnTo>
                <a:lnTo>
                  <a:pt x="531625" y="373957"/>
                </a:lnTo>
                <a:lnTo>
                  <a:pt x="0" y="37395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6" name="矩形 205">
            <a:extLst>
              <a:ext uri="{FF2B5EF4-FFF2-40B4-BE49-F238E27FC236}">
                <a16:creationId xmlns:a16="http://schemas.microsoft.com/office/drawing/2014/main" id="{77E6E6F5-F6FF-593A-1BD8-2D679506F2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8449" y="4164817"/>
            <a:ext cx="257475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7" name="矩形 206">
            <a:extLst>
              <a:ext uri="{FF2B5EF4-FFF2-40B4-BE49-F238E27FC236}">
                <a16:creationId xmlns:a16="http://schemas.microsoft.com/office/drawing/2014/main" id="{0901068D-0230-B733-C9D8-C9921988B3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633864" y="1717791"/>
            <a:ext cx="460853" cy="671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428532806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title_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title_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text_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_TYPE" val="title_1"/>
</p:tagLst>
</file>

<file path=ppt/theme/theme1.xml><?xml version="1.0" encoding="utf-8"?>
<a:theme xmlns:a="http://schemas.openxmlformats.org/drawingml/2006/main" name="Default Theme">
  <a:themeElements>
    <a:clrScheme name="绿色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自定义 5">
      <a:majorFont>
        <a:latin typeface="Gilroy Bold"/>
        <a:ea typeface="演示鲲榜"/>
        <a:cs typeface=""/>
      </a:majorFont>
      <a:minorFont>
        <a:latin typeface="Gilroy Regular"/>
        <a:ea typeface="Mi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efault Theme" id="{41BDC957-2020-43CC-8BAD-9DEEECB26D1B}" vid="{C0481157-8581-4FB2-9C06-232D5281F1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1292</TotalTime>
  <Words>321</Words>
  <Application>Microsoft Office PowerPoint</Application>
  <PresentationFormat>宽屏</PresentationFormat>
  <Paragraphs>9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Inter</vt:lpstr>
      <vt:lpstr>梦源黑体 CN W18</vt:lpstr>
      <vt:lpstr>思源黑体 CN Heavy</vt:lpstr>
      <vt:lpstr>演示光芒体</vt:lpstr>
      <vt:lpstr>字酷堂清楷 简</vt:lpstr>
      <vt:lpstr>Arial</vt:lpstr>
      <vt:lpstr>Default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俊涛 王</dc:creator>
  <cp:lastModifiedBy>俊涛 王</cp:lastModifiedBy>
  <cp:revision>5</cp:revision>
  <dcterms:created xsi:type="dcterms:W3CDTF">2025-02-21T00:36:23Z</dcterms:created>
  <dcterms:modified xsi:type="dcterms:W3CDTF">2025-06-23T23:33:49Z</dcterms:modified>
</cp:coreProperties>
</file>